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9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77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8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45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37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24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0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87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70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813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29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647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59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972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770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863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673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225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6D5D5-C03F-4A5D-9F3A-0A4110A4E7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bACKend</a:t>
            </a:r>
            <a:r>
              <a:rPr lang="pt-BR" dirty="0"/>
              <a:t> E </a:t>
            </a:r>
            <a:r>
              <a:rPr lang="pt-BR" dirty="0" err="1"/>
              <a:t>apiS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19F593-EBB9-4A95-8EB5-17DA3F54C1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7114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28342-87FD-4DB2-B8F8-EE281EC8B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6D6B6C-590B-4905-96BC-68A379ADF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effectLst/>
              </a:rPr>
              <a:t>O </a:t>
            </a:r>
            <a:r>
              <a:rPr lang="pt-BR" b="1" dirty="0" err="1">
                <a:effectLst/>
              </a:rPr>
              <a:t>backend</a:t>
            </a:r>
            <a:r>
              <a:rPr lang="pt-BR" b="1" dirty="0">
                <a:effectLst/>
              </a:rPr>
              <a:t> web</a:t>
            </a:r>
            <a:r>
              <a:rPr lang="pt-BR" dirty="0">
                <a:effectLst/>
              </a:rPr>
              <a:t> (ou "lado do servidor") é a parte de uma aplicação web que o usuário não vê, mas que é fundamental para o seu funcionamento. Ele engloba a lógica de negócios, o servidor, o banco de dados e as APIs que conectam o navegador (front-</a:t>
            </a:r>
            <a:r>
              <a:rPr lang="pt-BR" dirty="0" err="1">
                <a:effectLst/>
              </a:rPr>
              <a:t>end</a:t>
            </a:r>
            <a:r>
              <a:rPr lang="pt-BR" dirty="0">
                <a:effectLst/>
              </a:rPr>
              <a:t>) aos dados. Enquanto o front-</a:t>
            </a:r>
            <a:r>
              <a:rPr lang="pt-BR" dirty="0" err="1">
                <a:effectLst/>
              </a:rPr>
              <a:t>end</a:t>
            </a:r>
            <a:r>
              <a:rPr lang="pt-BR" dirty="0">
                <a:effectLst/>
              </a:rPr>
              <a:t> é a "vitrine" de uma loja (botões, layout, cores), o </a:t>
            </a:r>
            <a:r>
              <a:rPr lang="pt-BR" dirty="0" err="1">
                <a:effectLst/>
              </a:rPr>
              <a:t>backend</a:t>
            </a:r>
            <a:r>
              <a:rPr lang="pt-BR" dirty="0">
                <a:effectLst/>
              </a:rPr>
              <a:t> é o "estoque", o sistema de caixa e a gerência que funcionam nos bastidores.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197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DDE8D-B581-4EB4-AEBD-B280D90CB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compõe o </a:t>
            </a:r>
            <a:r>
              <a:rPr lang="pt-BR" dirty="0" err="1"/>
              <a:t>Backend</a:t>
            </a:r>
            <a:r>
              <a:rPr lang="pt-BR" dirty="0"/>
              <a:t> Web 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8AE465-90B4-4A46-B5F5-566A3F7FB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Linguagens de Programação: Python, </a:t>
            </a:r>
            <a:r>
              <a:rPr lang="pt-BR" dirty="0" err="1"/>
              <a:t>JavaScript</a:t>
            </a:r>
            <a:r>
              <a:rPr lang="pt-BR" dirty="0"/>
              <a:t> (Node.js), PHP, Java, Ruby, C#.</a:t>
            </a:r>
          </a:p>
          <a:p>
            <a:r>
              <a:rPr lang="pt-BR" dirty="0"/>
              <a:t>Bancos de Dados: Onde as informações são armazenadas, como MySQL, PostgreSQL, </a:t>
            </a:r>
            <a:r>
              <a:rPr lang="pt-BR" dirty="0" err="1"/>
              <a:t>MongoDB</a:t>
            </a:r>
            <a:r>
              <a:rPr lang="pt-BR" dirty="0"/>
              <a:t>.</a:t>
            </a:r>
          </a:p>
          <a:p>
            <a:r>
              <a:rPr lang="pt-BR" dirty="0"/>
              <a:t>Frameworks: Ferramentas que facilitam o desenvolvimento, como </a:t>
            </a:r>
            <a:r>
              <a:rPr lang="pt-BR" dirty="0" err="1"/>
              <a:t>Django</a:t>
            </a:r>
            <a:r>
              <a:rPr lang="pt-BR" dirty="0"/>
              <a:t> (Python), </a:t>
            </a:r>
            <a:r>
              <a:rPr lang="pt-BR" dirty="0" err="1"/>
              <a:t>Laravel</a:t>
            </a:r>
            <a:r>
              <a:rPr lang="pt-BR" dirty="0"/>
              <a:t> (PHP), Express (Node.js), Spring (Java).</a:t>
            </a:r>
          </a:p>
        </p:txBody>
      </p:sp>
    </p:spTree>
    <p:extLst>
      <p:ext uri="{BB962C8B-B14F-4D97-AF65-F5344CB8AC3E}">
        <p14:creationId xmlns:p14="http://schemas.microsoft.com/office/powerpoint/2010/main" val="43994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D7B4C-C04B-441D-BF4F-82540A72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Principais Vantagens de Utilizar </a:t>
            </a:r>
            <a:r>
              <a:rPr lang="pt-BR" dirty="0" err="1"/>
              <a:t>Backend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1CBEDE-9E48-4877-97F1-E0D23523C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Segurança de Dados: Informações sensíveis (senhas, dados bancários) nunca devem ficar no front-end. O </a:t>
            </a:r>
            <a:r>
              <a:rPr lang="pt-BR" dirty="0" err="1"/>
              <a:t>backend</a:t>
            </a:r>
            <a:r>
              <a:rPr lang="pt-BR" dirty="0"/>
              <a:t> garante que apenas usuários autenticados e autorizados acessem dados específicos.</a:t>
            </a:r>
          </a:p>
          <a:p>
            <a:r>
              <a:rPr lang="pt-BR" dirty="0"/>
              <a:t>Processamento e Lógica Complexa: Realiza cálculos pesados, integrações com APIs externas (como sistemas de pagamento) e gerencia a lógica da aplicação sem travar o navegador do usuário.</a:t>
            </a:r>
          </a:p>
          <a:p>
            <a:r>
              <a:rPr lang="pt-BR" dirty="0"/>
              <a:t>Persistência de Dados: Salva, gerencia e organiza grandes volumes de informações em bancos de dados, permitindo que usuários vejam seu histórico, perfil e atualizações em tempo real.</a:t>
            </a:r>
          </a:p>
          <a:p>
            <a:r>
              <a:rPr lang="pt-BR" dirty="0"/>
              <a:t>Escalabilidade e Desempenho: Permite que a aplicação suporte milhares de usuários simultâneos, otimizando o tempo de resposta e garantindo que o site/app não fique lento.</a:t>
            </a:r>
          </a:p>
          <a:p>
            <a:r>
              <a:rPr lang="pt-BR" dirty="0"/>
              <a:t>Flexibilidade e Centralização: Um único </a:t>
            </a:r>
            <a:r>
              <a:rPr lang="pt-BR" dirty="0" err="1"/>
              <a:t>backend</a:t>
            </a:r>
            <a:r>
              <a:rPr lang="pt-BR" dirty="0"/>
              <a:t> pode servir dados para múltiplos front-</a:t>
            </a:r>
            <a:r>
              <a:rPr lang="pt-BR" dirty="0" err="1"/>
              <a:t>ends</a:t>
            </a:r>
            <a:r>
              <a:rPr lang="pt-BR" dirty="0"/>
              <a:t> (uma página web, um aplicativo iOS e um app Android), utilizando APIs. </a:t>
            </a:r>
          </a:p>
        </p:txBody>
      </p:sp>
    </p:spTree>
    <p:extLst>
      <p:ext uri="{BB962C8B-B14F-4D97-AF65-F5344CB8AC3E}">
        <p14:creationId xmlns:p14="http://schemas.microsoft.com/office/powerpoint/2010/main" val="37840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3E729-4604-4FBB-B65B-4490102A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apiS</a:t>
            </a:r>
            <a:r>
              <a:rPr lang="pt-BR" dirty="0"/>
              <a:t> </a:t>
            </a:r>
            <a:r>
              <a:rPr lang="pt-BR" dirty="0" err="1"/>
              <a:t>rESTFUL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3941C3-73E6-4354-98BD-C9BB26ABB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API </a:t>
            </a:r>
            <a:r>
              <a:rPr lang="pt-BR" dirty="0" err="1"/>
              <a:t>RESTful</a:t>
            </a:r>
            <a:r>
              <a:rPr lang="pt-BR" dirty="0"/>
              <a:t> é uma interface que permite a comunicação entre sistemas através da internet, seguindo rigorosamente os princípios da arquitetura REST (</a:t>
            </a:r>
            <a:r>
              <a:rPr lang="pt-BR" dirty="0" err="1"/>
              <a:t>Representational</a:t>
            </a:r>
            <a:r>
              <a:rPr lang="pt-BR" dirty="0"/>
              <a:t> </a:t>
            </a:r>
            <a:r>
              <a:rPr lang="pt-BR" dirty="0" err="1"/>
              <a:t>State</a:t>
            </a:r>
            <a:r>
              <a:rPr lang="pt-BR" dirty="0"/>
              <a:t> </a:t>
            </a:r>
            <a:r>
              <a:rPr lang="pt-BR" dirty="0" err="1"/>
              <a:t>Transfer</a:t>
            </a:r>
            <a:r>
              <a:rPr lang="pt-BR" dirty="0"/>
              <a:t>). </a:t>
            </a:r>
          </a:p>
          <a:p>
            <a:r>
              <a:rPr lang="pt-BR" dirty="0"/>
              <a:t>Ela utiliza métodos HTTP (GET, POST, PUT, DELETE) para gerenciar recursos, geralmente trocando dados no formato JSON de forma padronizada, eficiente e segura.</a:t>
            </a:r>
          </a:p>
        </p:txBody>
      </p:sp>
    </p:spTree>
    <p:extLst>
      <p:ext uri="{BB962C8B-B14F-4D97-AF65-F5344CB8AC3E}">
        <p14:creationId xmlns:p14="http://schemas.microsoft.com/office/powerpoint/2010/main" val="291619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EB3FA-C608-43A5-8448-F63FD125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Características e Princípios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5E1A72-5183-4456-8F17-46D6DA6B6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Cliente-Servidor: Separação das responsabilidades entre a interface do usuário (cliente) e a lógica/banco de dados (servidor).</a:t>
            </a:r>
          </a:p>
          <a:p>
            <a:r>
              <a:rPr lang="pt-BR" dirty="0" err="1"/>
              <a:t>Stateless</a:t>
            </a:r>
            <a:r>
              <a:rPr lang="pt-BR" dirty="0"/>
              <a:t> (Sem Estado): Cada requisição do cliente para o servidor deve conter todas as informações necessárias. O servidor não armazena sessões.</a:t>
            </a:r>
          </a:p>
          <a:p>
            <a:r>
              <a:rPr lang="pt-BR" dirty="0" err="1"/>
              <a:t>Cacheável</a:t>
            </a:r>
            <a:r>
              <a:rPr lang="pt-BR" dirty="0"/>
              <a:t>: As respostas devem definir se podem ou não ser armazenadas em cache para melhorar o desempenho.</a:t>
            </a:r>
          </a:p>
          <a:p>
            <a:r>
              <a:rPr lang="pt-BR" dirty="0"/>
              <a:t>Interface Uniforme: Padroniza a comunicação, facilitando a interação (</a:t>
            </a:r>
            <a:r>
              <a:rPr lang="pt-BR" dirty="0" err="1"/>
              <a:t>ex</a:t>
            </a:r>
            <a:r>
              <a:rPr lang="pt-BR" dirty="0"/>
              <a:t>: usar </a:t>
            </a:r>
            <a:r>
              <a:rPr lang="pt-BR" dirty="0" err="1"/>
              <a:t>URLs</a:t>
            </a:r>
            <a:r>
              <a:rPr lang="pt-BR" dirty="0"/>
              <a:t> para recursos e métodos HTTP para ações).</a:t>
            </a:r>
          </a:p>
          <a:p>
            <a:r>
              <a:rPr lang="pt-BR" dirty="0"/>
              <a:t>Sistema em Camadas: O cliente não precisa saber se está conectado diretamente ao servidor final ou a um intermediário (proxy/gateway).</a:t>
            </a:r>
          </a:p>
        </p:txBody>
      </p:sp>
    </p:spTree>
    <p:extLst>
      <p:ext uri="{BB962C8B-B14F-4D97-AF65-F5344CB8AC3E}">
        <p14:creationId xmlns:p14="http://schemas.microsoft.com/office/powerpoint/2010/main" val="2918286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1CEF7-694F-4DDB-AD5D-47C849C91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HTTP Comuns: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7AEB63-58B8-470E-8C6C-67C2CAE1A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GET: Recupera dados.</a:t>
            </a:r>
          </a:p>
          <a:p>
            <a:r>
              <a:rPr lang="pt-BR" dirty="0"/>
              <a:t>POST: Cria um novo recurso.</a:t>
            </a:r>
          </a:p>
          <a:p>
            <a:r>
              <a:rPr lang="pt-BR" dirty="0"/>
              <a:t>PUT/PATCH: Atualiza recursos existentes.</a:t>
            </a:r>
          </a:p>
          <a:p>
            <a:r>
              <a:rPr lang="pt-BR" dirty="0"/>
              <a:t>DELETE: Exclui um recurso</a:t>
            </a:r>
          </a:p>
        </p:txBody>
      </p:sp>
    </p:spTree>
    <p:extLst>
      <p:ext uri="{BB962C8B-B14F-4D97-AF65-F5344CB8AC3E}">
        <p14:creationId xmlns:p14="http://schemas.microsoft.com/office/powerpoint/2010/main" val="3871517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FA7F4-847A-4EEE-B373-76B33BD3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a primeira API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079D43-C0D8-4D68-B410-8A6F8F9E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https://start.spring.io/</a:t>
            </a: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36A932-BA13-469C-BA1B-E035090A4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107" y="2536433"/>
            <a:ext cx="9453942" cy="423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356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B85A3-0189-4B61-BF78-2AAC5555F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a primeira API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F8FCE8-87B1-46FB-9255-B4D48FCAD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Descompactar ZIP gerado em uma pasta do projeto e abrir com VSCODE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45EB6C-44CD-4F38-A94C-974A31384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02" y="2672347"/>
            <a:ext cx="10617746" cy="37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555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72</TotalTime>
  <Words>576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bACKend E apiS</vt:lpstr>
      <vt:lpstr>O QUE É?</vt:lpstr>
      <vt:lpstr>O que compõe o Backend Web ? </vt:lpstr>
      <vt:lpstr>Principais Vantagens de Utilizar Backend </vt:lpstr>
      <vt:lpstr>apiS rESTFUL</vt:lpstr>
      <vt:lpstr>Principais Características e Princípios</vt:lpstr>
      <vt:lpstr>Métodos HTTP Comuns: </vt:lpstr>
      <vt:lpstr>Criando a primeira API</vt:lpstr>
      <vt:lpstr>Criando a primeira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E apiS</dc:title>
  <dc:creator>Professor</dc:creator>
  <cp:lastModifiedBy>Professor</cp:lastModifiedBy>
  <cp:revision>5</cp:revision>
  <dcterms:created xsi:type="dcterms:W3CDTF">2026-04-27T20:12:51Z</dcterms:created>
  <dcterms:modified xsi:type="dcterms:W3CDTF">2026-04-27T21:27:33Z</dcterms:modified>
</cp:coreProperties>
</file>